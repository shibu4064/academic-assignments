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ear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88000"/>
            <a:ext cx="2340000" cy="2340000"/>
          </a:xfrm>
          <a:prstGeom prst="rect">
            <a:avLst/>
          </a:prstGeom>
        </p:spPr>
      </p:pic>
      <p:pic>
        <p:nvPicPr>
          <p:cNvPr id="3" name="Picture 2" descr="jahangirnaga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5999" y="288000"/>
            <a:ext cx="2340000" cy="23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0000" y="180000"/>
            <a:ext cx="234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467F"/>
                </a:solidFill>
                <a:latin typeface="Calibri"/>
              </a:defRPr>
            </a:pPr>
            <a:r>
              <a:t>Physico-Chemical investigation of additive-mediated Triton X-100 – Montelukast drug interactions using phase separation and UV-visible spectroscopy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512000"/>
            <a:ext cx="19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Calibri"/>
              </a:defRPr>
            </a:pPr>
            <a:r>
              <a:t>Sadia Kamal Tonny, Poster ID: Phy-106</a:t>
            </a:r>
            <a:br/>
            <a:r>
              <a:t>Prof. Dr. Shahed Rana</a:t>
            </a:r>
            <a:br/>
            <a:r>
              <a:t>Department of Chemistry, Jahangirnagar University, Savar, Dhaka-1342</a:t>
            </a:r>
          </a:p>
        </p:txBody>
      </p:sp>
      <p:pic>
        <p:nvPicPr>
          <p:cNvPr id="6" name="Picture 5" descr="montelu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2520000"/>
            <a:ext cx="5040000" cy="27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000" y="532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Calibri"/>
              </a:defRPr>
            </a:pPr>
            <a:r>
              <a:t>Montelukast Sodium USP</a:t>
            </a:r>
          </a:p>
        </p:txBody>
      </p:sp>
      <p:pic>
        <p:nvPicPr>
          <p:cNvPr id="8" name="Picture 7" descr="trit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0" y="2520000"/>
            <a:ext cx="5040000" cy="27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0" y="532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Calibri"/>
              </a:defRPr>
            </a:pPr>
            <a:r>
              <a:t>Triton X-100 (n = 9–10)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94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7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6372000"/>
            <a:ext cx="86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Surfactants are amphiphilic; reduce surface &amp; interfacial tension.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Accumulate at interfaces; increase solubility, mobility, bioavailability of hydrophobic organics.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Triton X-100: low-toxic, non-ionic surfactant. Used in drug delivery, protein solubilization, DNA extraction, virus deactivation.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Montelukast Sodium: selective leukotriene receptor antagonist; prevents chronic asthma, allergic rhinitis, exercise-induced bronchoconstriction (not a rescue drug).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882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7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9252000"/>
            <a:ext cx="86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Investigate modes of interaction between TX-100 and Montelukast.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Examine clouding behavior of TX-100–Montelukast mixture in aqueous solution &amp; with additives.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Determine thermodynamic parameters (ΔG°, ΔH°, ΔS°).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Study UV-Vis absorption spectra and calculate CMC, binding constant (Kb), partition constant (Kc), partition coefficient (Kx).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1116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7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1592000"/>
            <a:ext cx="86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UV-Visible spectroscopy: determine CMC, binding/partition constants.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Cloud Point (CP) measurements: assess phase separation.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Thermodynamic calculations: ΔG°, ΔH°, ΔS° from CP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0000" y="594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7F"/>
                </a:solidFill>
                <a:latin typeface="Calibri"/>
              </a:defRPr>
            </a:pPr>
            <a:r>
              <a:t>CLOUD POINT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0000" y="6372000"/>
            <a:ext cx="86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CP of 4% TX-100 decreases with increasing Montelukast concentration.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Salts decrease CP (salting‑out): Na₃PO₄ &gt; Na₂SO₄ &gt; NaCl (same ionic strength); similar trend for K salts.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Hydrotropes generally increase CP, except choline chloride &amp; p-toluidine hydrochloride.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Short-chain alcohols increase CP; butanol decreases it (more hydrophobic).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0000" y="846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7F"/>
                </a:solidFill>
                <a:latin typeface="Calibri"/>
              </a:defRPr>
            </a:pPr>
            <a:r>
              <a:t>THERMODYNAMICS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0000" y="8892000"/>
            <a:ext cx="86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Enthalpy-entropy compensation plots confirm similar clouding mechanism in water, KNO₃, nicotinamide.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ΔG°, ΔH°, ΔS° evaluated from CP variation.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60000" y="594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7F"/>
                </a:solidFill>
                <a:latin typeface="Calibri"/>
              </a:defRPr>
            </a:pPr>
            <a:r>
              <a:t>UV-Visible SPECTROSCOPY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60000" y="6372000"/>
            <a:ext cx="86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Absorption spectra of TX-100 + 0.01 mM Montelukast recorded in water &amp; additive media.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CMC determined from break in Absorbance vs log[TX-100] plots.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CMC values obtained in: water, methanol, ethanol, propanol, K₂SO₄, KCl, K₃PO₄.</a:t>
            </a:r>
          </a:p>
          <a:p>
            <a:pPr>
              <a:spcAft>
                <a:spcPts val="400"/>
              </a:spcAft>
              <a:defRPr sz="2200">
                <a:latin typeface="Calibri"/>
              </a:defRPr>
            </a:pPr>
            <a:r>
              <a:t>• Pure Montelukast spectrum used as reference.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972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Variation of CP of 4% TX-100 + Montelukast in aq. 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1386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Enthalpy-entropy compensation (aq. medium)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972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CP in Na-salts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0000" y="1386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CP in K-salts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420000" y="972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CP in Hydrotropes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20000" y="1386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CP in Alcohols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360000" y="972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Enthalpy-entropy (KNO₃)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360000" y="13860000"/>
            <a:ext cx="5580000" cy="360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Enthalpy-entropy (Nicotinamide)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1800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Abs. spectra (water)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0000" y="1800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CMC (water)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420000" y="1800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Pure Montelukast spectrum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360000" y="1800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Abs. spectra (MeOH)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2178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CMC (MeOH)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0000" y="2178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Abs. spectra (EtOH)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420000" y="2178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CMC (EtOH)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60000" y="2178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Abs. spectra (PrOH)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2556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CMC (PrOH)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0000" y="2556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Abs. spectra (K₂SO₄)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420000" y="2556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CMC (KCl)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360000" y="2556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CMC (K₃PO₄)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0000" y="29340000"/>
            <a:ext cx="5580000" cy="3240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05050"/>
                </a:solidFill>
              </a:defRPr>
            </a:pPr>
            <a:r>
              <a:t>CMC (K₂SO₄)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" y="33480000"/>
            <a:ext cx="28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467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34020000"/>
            <a:ext cx="28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>
                <a:latin typeface="Calibri"/>
              </a:defRPr>
            </a:pPr>
            <a:r>
              <a:t>• Phase separation and micellization of TX-100–Montelukast mixed system examined via CP and UV-Vis.</a:t>
            </a:r>
          </a:p>
          <a:p>
            <a:pPr>
              <a:spcAft>
                <a:spcPts val="400"/>
              </a:spcAft>
              <a:defRPr sz="2600">
                <a:latin typeface="Calibri"/>
              </a:defRPr>
            </a:pPr>
            <a:r>
              <a:t>• CP decreased with increasing Montelukast concentration.</a:t>
            </a:r>
          </a:p>
          <a:p>
            <a:pPr>
              <a:spcAft>
                <a:spcPts val="400"/>
              </a:spcAft>
              <a:defRPr sz="2600">
                <a:latin typeface="Calibri"/>
              </a:defRPr>
            </a:pPr>
            <a:r>
              <a:t>• CP decreased with Na/K salts (salting-out): trivalent &gt; divalent &gt; monovalent effect at same ionic strength.</a:t>
            </a:r>
          </a:p>
          <a:p>
            <a:pPr>
              <a:spcAft>
                <a:spcPts val="400"/>
              </a:spcAft>
              <a:defRPr sz="2600">
                <a:latin typeface="Calibri"/>
              </a:defRPr>
            </a:pPr>
            <a:r>
              <a:t>• CP generally increased with hydrotropes (except choline chloride, p-toluidine HCl) and short-chain alcohols (butanol decreased).</a:t>
            </a:r>
          </a:p>
          <a:p>
            <a:pPr>
              <a:spcAft>
                <a:spcPts val="400"/>
              </a:spcAft>
              <a:defRPr sz="2600">
                <a:latin typeface="Calibri"/>
              </a:defRPr>
            </a:pPr>
            <a:r>
              <a:t>• CMC values determined from UV-Vis absorbance vs. log[TX-100] plots in water and various additive media.</a:t>
            </a:r>
          </a:p>
          <a:p>
            <a:pPr>
              <a:spcAft>
                <a:spcPts val="400"/>
              </a:spcAft>
              <a:defRPr sz="2600">
                <a:latin typeface="Calibri"/>
              </a:defRPr>
            </a:pPr>
            <a:r>
              <a:t>• Thermodynamic parameters and binding/partition constants quantified.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0000" y="33372000"/>
            <a:ext cx="29195999" cy="30600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